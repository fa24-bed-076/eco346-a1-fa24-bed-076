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Variant and data" id="{E3131AB9-5E75-D792-73B9-75CF073A2534}">
          <p14:sldIdLst>
            <p14:sldId id="256"/>
          </p14:sldIdLst>
        </p14:section>
        <p14:section name="Distribution" id="{19E1A11A-6BD8-EB14-F2EB-4A2FC05EA74D}">
          <p14:sldIdLst>
            <p14:sldId id="257"/>
          </p14:sldIdLst>
        </p14:section>
        <p14:section name="Makeover" id="{BFC3DC7B-0921-0CC2-BE11-77DA7E632996}">
          <p14:sldIdLst>
            <p14:sldId id="258"/>
          </p14:sldIdLst>
        </p14:section>
        <p14:section name="Key finding" id="{C3BAA5C2-8805-6C04-C67A-BBCD2AAE3934}">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2" d="100"/>
          <a:sy n="92" d="100"/>
        </p:scale>
        <p:origin x="5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9730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TALKING POINTS (about 45 seconds). Say these in your own words.</a:t>
            </a:r>
          </a:p>
          <a:p>
            <a:r>
              <a:t>- My variant is 4: my registration number ends in 76, and 76 = 9 x 8 + 4. Variant 4 is rural Khyber Pakhtunkhwa.</a:t>
            </a:r>
          </a:p>
          <a:p>
            <a:r>
              <a:t>- Data: PSLM 2019-20. The person file has no weight, province or area, so I joined the household file by household ID (hhid) and kept rural KP: 19,896 persons.</a:t>
            </a:r>
          </a:p>
          <a:p>
            <a:r>
              <a:t>- Two samples: for literacy, people aged 10 to 64 with a recorded literacy value (13,200). For spending, students with spending above zero (4,912).</a:t>
            </a:r>
          </a:p>
          <a:p>
            <a:r>
              <a:t>- Every statistic is weighted by household weight: it says how many households each sampled household represents.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TALKING POINTS (about 1 minute).</a:t>
            </a:r>
          </a:p>
          <a:p>
            <a:r>
              <a:t>- The figure shows annual education spending per student on a log scale. Spending is very skewed, so on a log axis each step is ten times more, not the same number of rupees.</a:t>
            </a:r>
          </a:p>
          <a:p>
            <a:r>
              <a:t>- Bars are density per log10 unit, weighted by household weight. The two dashed lines are the weighted median, Rs 7,000, and the weighted 90th percentile, Rs 25,000.</a:t>
            </a:r>
          </a:p>
          <a:p>
            <a:r>
              <a:t>- The 10th percentile is Rs 2,500, so the ratio p90/p10 is 10.00: spending at the 90th percentile is ten times the 10th.</a:t>
            </a:r>
          </a:p>
          <a:p>
            <a:r>
              <a:t>- The weighted and unweighted medians are both Rs 7,000. The weights shift the cumulative shares only a little, not enough to move where the 50% mark falls.</a:t>
            </a:r>
          </a:p>
          <a:p>
            <a:r>
              <a:t>- Three students outside Rs 100 to Rs 1,000,000 are excluded from the histogram.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TALKING POINTS (about 1 to 1.5 minutes).</a:t>
            </a:r>
          </a:p>
          <a:p>
            <a:r>
              <a:t>- Left is R's default: literate against age with geom_point. Literate is only 0 or 1, so thousands of people sit on top of each other in two rows. That is overplotting: I cannot see how many people are in each row, or any trend.</a:t>
            </a:r>
          </a:p>
          <a:p>
            <a:r>
              <a:t>- Right is my redesign: the weighted literacy rate for each five-year age band and sex, which is a conditional mean.</a:t>
            </a:r>
          </a:p>
          <a:p>
            <a:r>
              <a:t>- Changes and principles: (1) conditional means fix overplotting; (2) a common 0-100 scale lets readers compare by position, the most accurate channel in the perceptual ranking of channels; (3) direct labels instead of a legend; (4) less clutter, following data-ink; (5) a title that states the finding and an annotation of the largest gap.</a:t>
            </a:r>
          </a:p>
          <a:p>
            <a:r>
              <a:t>- What the default shows that my redesign hides: the individual observations and exact ages.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TALKING POINTS (about 1 minute).</a:t>
            </a:r>
          </a:p>
          <a:p>
            <a:r>
              <a:t>- The finding I think matters most: among people aged 55 to 59 in rural KP, only 2.9% of women are literate, compared with 43.0% of men.</a:t>
            </a:r>
          </a:p>
          <a:p>
            <a:r>
              <a:t>- Women are below men in every age band. The largest gap is 46.6 percentage points, at ages 45 to 49. Among 15 to 19 year olds the rates are 52.6% for women and 85.1% for men, a smaller gap (32.5 points) but still large.</a:t>
            </a:r>
          </a:p>
          <a:p>
            <a:r>
              <a:t>- Limit: the figure compares different people at one point in time, so I cannot separate an age effect from a cohort effect. Older women may be less literate because of the schooling available when they were young. It also does not show causes.</a:t>
            </a:r>
          </a:p>
          <a:p>
            <a:r>
              <a:t>- Close: thank you, I am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a:spLocks noGrp="1"/>
          </p:cNvSpPr>
          <p:nvPr>
            <p:ph type="title" idx="101" hasCustomPrompt="1"/>
          </p:nvPr>
        </p:nvSpPr>
        <p:spPr>
          <a:xfrm>
            <a:off x="548640" y="640080"/>
            <a:ext cx="8046720" cy="146304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4" name="Text 1"/>
          <p:cNvSpPr>
            <a:spLocks noGrp="1"/>
          </p:cNvSpPr>
          <p:nvPr>
            <p:ph type="body" idx="102" hasCustomPrompt="1"/>
          </p:nvPr>
        </p:nvSpPr>
        <p:spPr>
          <a:xfrm>
            <a:off x="548640" y="2194560"/>
            <a:ext cx="8046720" cy="411480"/>
          </a:xfrm>
          <a:prstGeom prst="rect">
            <a:avLst/>
          </a:prstGeom>
          <a:noFill/>
          <a:ln/>
        </p:spPr>
        <p:txBody>
          <a:bodyPr wrap="square" rtlCol="0"/>
          <a:lstStyle>
            <a:lvl1pPr marL="0" indent="0">
              <a:buNone/>
              <a:defRPr lang="en-US" sz="1800" dirty="0">
                <a:solidFill>
                  <a:schemeClr val="bg2"/>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100584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3" name="Text 0"/>
          <p:cNvSpPr/>
          <p:nvPr/>
        </p:nvSpPr>
        <p:spPr>
          <a:xfrm>
            <a:off x="457200" y="4800600"/>
            <a:ext cx="5486400" cy="228600"/>
          </a:xfrm>
          <a:prstGeom prst="rect">
            <a:avLst/>
          </a:prstGeom>
          <a:noFill/>
          <a:ln/>
        </p:spPr>
        <p:txBody>
          <a:bodyPr wrap="square" lIns="0" tIns="0" rIns="0" bIns="0" rtlCol="0" anchor="ctr"/>
          <a:lstStyle/>
          <a:p>
            <a:pPr marL="0" indent="0">
              <a:buNone/>
            </a:pPr>
            <a:r>
              <a:rPr lang="en-US" sz="1000" dirty="0">
                <a:solidFill>
                  <a:schemeClr val="accent4"/>
                </a:solidFill>
              </a:rPr>
              <a:t>ECO346 · Uswah Zahid · FA24-BED-076</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a:spLocks noGrp="1"/>
          </p:cNvSpPr>
          <p:nvPr>
            <p:ph type="title" idx="101" hasCustomPrompt="1"/>
          </p:nvPr>
        </p:nvSpPr>
        <p:spPr>
          <a:xfrm>
            <a:off x="457200" y="274320"/>
            <a:ext cx="8229600" cy="100584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4" name="Text 1"/>
          <p:cNvSpPr/>
          <p:nvPr/>
        </p:nvSpPr>
        <p:spPr>
          <a:xfrm>
            <a:off x="457200" y="4800600"/>
            <a:ext cx="5486400" cy="228600"/>
          </a:xfrm>
          <a:prstGeom prst="rect">
            <a:avLst/>
          </a:prstGeom>
          <a:noFill/>
          <a:ln/>
        </p:spPr>
        <p:txBody>
          <a:bodyPr wrap="square" lIns="0" tIns="0" rIns="0" bIns="0" rtlCol="0" anchor="ctr"/>
          <a:lstStyle/>
          <a:p>
            <a:pPr marL="0" indent="0">
              <a:buNone/>
            </a:pPr>
            <a:r>
              <a:rPr lang="en-US" sz="1000" dirty="0">
                <a:solidFill>
                  <a:schemeClr val="bg2"/>
                </a:solidFill>
              </a:rPr>
              <a:t>ECO346 · Uswah Zahid · FA24-BED-076</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640080"/>
            <a:ext cx="8046720" cy="1463040"/>
          </a:xfrm>
          <a:prstGeom prst="rect">
            <a:avLst/>
          </a:prstGeom>
          <a:noFill/>
          <a:ln/>
        </p:spPr>
        <p:txBody>
          <a:bodyPr wrap="square" lIns="0" tIns="0" rIns="0" bIns="0" rtlCol="0" anchor="t"/>
          <a:lstStyle/>
          <a:p>
            <a:pPr marL="0" indent="0" algn="l">
              <a:buNone/>
            </a:pPr>
            <a:r>
              <a:rPr lang="en-US" sz="3600" b="1" dirty="0">
                <a:solidFill>
                  <a:schemeClr val="bg1"/>
                </a:solidFill>
              </a:rPr>
              <a:t>Schooling costs and literacy in rural Khyber Pakhtunkhwa</a:t>
            </a:r>
            <a:endParaRPr lang="en-US" sz="3600" dirty="0"/>
          </a:p>
        </p:txBody>
      </p:sp>
      <p:sp>
        <p:nvSpPr>
          <p:cNvPr id="3" name="Text 1"/>
          <p:cNvSpPr>
            <a:spLocks noGrp="1"/>
          </p:cNvSpPr>
          <p:nvPr>
            <p:ph type="body" idx="102" hasCustomPrompt="1"/>
          </p:nvPr>
        </p:nvSpPr>
        <p:spPr>
          <a:xfrm>
            <a:off x="548640" y="2194560"/>
            <a:ext cx="8046720" cy="411480"/>
          </a:xfrm>
          <a:prstGeom prst="rect">
            <a:avLst/>
          </a:prstGeom>
          <a:noFill/>
          <a:ln/>
        </p:spPr>
        <p:txBody>
          <a:bodyPr wrap="square" lIns="0" tIns="0" rIns="0" bIns="0" rtlCol="0"/>
          <a:lstStyle/>
          <a:p>
            <a:pPr marL="0" indent="0">
              <a:buNone/>
            </a:pPr>
            <a:r>
              <a:rPr lang="en-US" sz="1800" dirty="0">
                <a:solidFill>
                  <a:schemeClr val="bg2"/>
                </a:solidFill>
              </a:rPr>
              <a:t>Uswah Zahid · FA24-BED-076 · Section B </a:t>
            </a:r>
            <a:endParaRPr lang="en-US" sz="1800" dirty="0"/>
          </a:p>
        </p:txBody>
      </p:sp>
      <p:sp>
        <p:nvSpPr>
          <p:cNvPr id="4" name="VariantChip"/>
          <p:cNvSpPr txBox="1"/>
          <p:nvPr/>
        </p:nvSpPr>
        <p:spPr>
          <a:xfrm>
            <a:off x="548640" y="2788920"/>
            <a:ext cx="4206240" cy="457200"/>
          </a:xfrm>
          <a:prstGeom prst="roundRect">
            <a:avLst>
              <a:gd name="adj" fmla="val 20000"/>
            </a:avLst>
          </a:prstGeom>
          <a:solidFill>
            <a:schemeClr val="accent2"/>
          </a:solidFill>
          <a:ln/>
        </p:spPr>
        <p:txBody>
          <a:bodyPr wrap="square" rtlCol="0" anchor="ctr"/>
          <a:lstStyle/>
          <a:p>
            <a:pPr marL="0" indent="0" algn="ctr">
              <a:buNone/>
            </a:pPr>
            <a:r>
              <a:rPr lang="en-US" sz="1600" b="1" dirty="0">
                <a:solidFill>
                  <a:schemeClr val="bg1"/>
                </a:solidFill>
              </a:rPr>
              <a:t>Variant 4 = rural KP  (76 = 9 × 8 + 4)</a:t>
            </a:r>
            <a:endParaRPr lang="en-US" sz="1600" dirty="0"/>
          </a:p>
        </p:txBody>
      </p:sp>
      <p:sp>
        <p:nvSpPr>
          <p:cNvPr id="5" name="Card 19,896"/>
          <p:cNvSpPr/>
          <p:nvPr/>
        </p:nvSpPr>
        <p:spPr>
          <a:xfrm>
            <a:off x="548640" y="3474720"/>
            <a:ext cx="2560320" cy="1097280"/>
          </a:xfrm>
          <a:prstGeom prst="roundRect">
            <a:avLst>
              <a:gd name="adj" fmla="val 8333"/>
            </a:avLst>
          </a:prstGeom>
          <a:solidFill>
            <a:schemeClr val="bg1"/>
          </a:solidFill>
          <a:ln w="12700">
            <a:solidFill>
              <a:schemeClr val="bg1"/>
            </a:solidFill>
            <a:prstDash val="solid"/>
          </a:ln>
        </p:spPr>
      </p:sp>
      <p:sp>
        <p:nvSpPr>
          <p:cNvPr id="6" name="Number 19,896"/>
          <p:cNvSpPr txBox="1"/>
          <p:nvPr/>
        </p:nvSpPr>
        <p:spPr>
          <a:xfrm>
            <a:off x="640080" y="3547872"/>
            <a:ext cx="2377440" cy="502920"/>
          </a:xfrm>
          <a:prstGeom prst="rect">
            <a:avLst/>
          </a:prstGeom>
          <a:noFill/>
          <a:ln/>
        </p:spPr>
        <p:txBody>
          <a:bodyPr wrap="square" lIns="0" tIns="0" rIns="0" bIns="0" rtlCol="0" anchor="ctr"/>
          <a:lstStyle/>
          <a:p>
            <a:pPr marL="0" indent="0">
              <a:buNone/>
            </a:pPr>
            <a:r>
              <a:rPr lang="en-US" sz="2800" b="1" dirty="0">
                <a:solidFill>
                  <a:schemeClr val="tx2"/>
                </a:solidFill>
              </a:rPr>
              <a:t>19,896</a:t>
            </a:r>
            <a:endParaRPr lang="en-US" sz="2800" dirty="0"/>
          </a:p>
        </p:txBody>
      </p:sp>
      <p:sp>
        <p:nvSpPr>
          <p:cNvPr id="7" name="Label 19,896"/>
          <p:cNvSpPr txBox="1"/>
          <p:nvPr/>
        </p:nvSpPr>
        <p:spPr>
          <a:xfrm>
            <a:off x="640080" y="4096512"/>
            <a:ext cx="2377440" cy="365760"/>
          </a:xfrm>
          <a:prstGeom prst="rect">
            <a:avLst/>
          </a:prstGeom>
          <a:noFill/>
          <a:ln/>
        </p:spPr>
        <p:txBody>
          <a:bodyPr wrap="square" lIns="0" tIns="0" rIns="0" bIns="0" rtlCol="0" anchor="ctr"/>
          <a:lstStyle/>
          <a:p>
            <a:pPr marL="0" indent="0">
              <a:buNone/>
            </a:pPr>
            <a:r>
              <a:rPr lang="en-US" sz="1200" dirty="0">
                <a:solidFill>
                  <a:schemeClr val="tx1"/>
                </a:solidFill>
              </a:rPr>
              <a:t>persons in rural KP</a:t>
            </a:r>
            <a:endParaRPr lang="en-US" sz="1200" dirty="0"/>
          </a:p>
        </p:txBody>
      </p:sp>
      <p:sp>
        <p:nvSpPr>
          <p:cNvPr id="8" name="Card 13,200"/>
          <p:cNvSpPr/>
          <p:nvPr/>
        </p:nvSpPr>
        <p:spPr>
          <a:xfrm>
            <a:off x="3291840" y="3474720"/>
            <a:ext cx="2560320" cy="1097280"/>
          </a:xfrm>
          <a:prstGeom prst="roundRect">
            <a:avLst>
              <a:gd name="adj" fmla="val 8333"/>
            </a:avLst>
          </a:prstGeom>
          <a:solidFill>
            <a:schemeClr val="bg1"/>
          </a:solidFill>
          <a:ln w="12700">
            <a:solidFill>
              <a:schemeClr val="bg1"/>
            </a:solidFill>
            <a:prstDash val="solid"/>
          </a:ln>
        </p:spPr>
      </p:sp>
      <p:sp>
        <p:nvSpPr>
          <p:cNvPr id="9" name="Number 13,200"/>
          <p:cNvSpPr txBox="1"/>
          <p:nvPr/>
        </p:nvSpPr>
        <p:spPr>
          <a:xfrm>
            <a:off x="3383280" y="3547872"/>
            <a:ext cx="2377440" cy="502920"/>
          </a:xfrm>
          <a:prstGeom prst="rect">
            <a:avLst/>
          </a:prstGeom>
          <a:noFill/>
          <a:ln/>
        </p:spPr>
        <p:txBody>
          <a:bodyPr wrap="square" lIns="0" tIns="0" rIns="0" bIns="0" rtlCol="0" anchor="ctr"/>
          <a:lstStyle/>
          <a:p>
            <a:pPr marL="0" indent="0">
              <a:buNone/>
            </a:pPr>
            <a:r>
              <a:rPr lang="en-US" sz="2800" b="1" dirty="0">
                <a:solidFill>
                  <a:schemeClr val="tx2"/>
                </a:solidFill>
              </a:rPr>
              <a:t>13,200</a:t>
            </a:r>
            <a:endParaRPr lang="en-US" sz="2800" dirty="0"/>
          </a:p>
        </p:txBody>
      </p:sp>
      <p:sp>
        <p:nvSpPr>
          <p:cNvPr id="10" name="Label 13,200"/>
          <p:cNvSpPr txBox="1"/>
          <p:nvPr/>
        </p:nvSpPr>
        <p:spPr>
          <a:xfrm>
            <a:off x="3383280" y="4096512"/>
            <a:ext cx="2377440" cy="365760"/>
          </a:xfrm>
          <a:prstGeom prst="rect">
            <a:avLst/>
          </a:prstGeom>
          <a:noFill/>
          <a:ln/>
        </p:spPr>
        <p:txBody>
          <a:bodyPr wrap="square" lIns="0" tIns="0" rIns="0" bIns="0" rtlCol="0" anchor="ctr"/>
          <a:lstStyle/>
          <a:p>
            <a:pPr marL="0" indent="0">
              <a:buNone/>
            </a:pPr>
            <a:r>
              <a:rPr lang="en-US" sz="1200" dirty="0">
                <a:solidFill>
                  <a:schemeClr val="tx1"/>
                </a:solidFill>
              </a:rPr>
              <a:t>aged 10–64, literacy recorded</a:t>
            </a:r>
            <a:endParaRPr lang="en-US" sz="1200" dirty="0"/>
          </a:p>
        </p:txBody>
      </p:sp>
      <p:sp>
        <p:nvSpPr>
          <p:cNvPr id="11" name="Card 4,912"/>
          <p:cNvSpPr/>
          <p:nvPr/>
        </p:nvSpPr>
        <p:spPr>
          <a:xfrm>
            <a:off x="6035040" y="3474720"/>
            <a:ext cx="2560320" cy="1097280"/>
          </a:xfrm>
          <a:prstGeom prst="roundRect">
            <a:avLst>
              <a:gd name="adj" fmla="val 8333"/>
            </a:avLst>
          </a:prstGeom>
          <a:solidFill>
            <a:schemeClr val="bg1"/>
          </a:solidFill>
          <a:ln w="12700">
            <a:solidFill>
              <a:schemeClr val="bg1"/>
            </a:solidFill>
            <a:prstDash val="solid"/>
          </a:ln>
        </p:spPr>
      </p:sp>
      <p:sp>
        <p:nvSpPr>
          <p:cNvPr id="12" name="Number 4,912"/>
          <p:cNvSpPr txBox="1"/>
          <p:nvPr/>
        </p:nvSpPr>
        <p:spPr>
          <a:xfrm>
            <a:off x="6126480" y="3547872"/>
            <a:ext cx="2377440" cy="502920"/>
          </a:xfrm>
          <a:prstGeom prst="rect">
            <a:avLst/>
          </a:prstGeom>
          <a:noFill/>
          <a:ln/>
        </p:spPr>
        <p:txBody>
          <a:bodyPr wrap="square" lIns="0" tIns="0" rIns="0" bIns="0" rtlCol="0" anchor="ctr"/>
          <a:lstStyle/>
          <a:p>
            <a:pPr marL="0" indent="0">
              <a:buNone/>
            </a:pPr>
            <a:r>
              <a:rPr lang="en-US" sz="2800" b="1" dirty="0">
                <a:solidFill>
                  <a:schemeClr val="tx2"/>
                </a:solidFill>
              </a:rPr>
              <a:t>4,912</a:t>
            </a:r>
            <a:endParaRPr lang="en-US" sz="2800" dirty="0"/>
          </a:p>
        </p:txBody>
      </p:sp>
      <p:sp>
        <p:nvSpPr>
          <p:cNvPr id="13" name="Label 4,912"/>
          <p:cNvSpPr txBox="1"/>
          <p:nvPr/>
        </p:nvSpPr>
        <p:spPr>
          <a:xfrm>
            <a:off x="6126480" y="4096512"/>
            <a:ext cx="2377440" cy="365760"/>
          </a:xfrm>
          <a:prstGeom prst="rect">
            <a:avLst/>
          </a:prstGeom>
          <a:noFill/>
          <a:ln/>
        </p:spPr>
        <p:txBody>
          <a:bodyPr wrap="square" lIns="0" tIns="0" rIns="0" bIns="0" rtlCol="0" anchor="ctr"/>
          <a:lstStyle/>
          <a:p>
            <a:pPr marL="0" indent="0">
              <a:buNone/>
            </a:pPr>
            <a:r>
              <a:rPr lang="en-US" sz="1200" dirty="0">
                <a:solidFill>
                  <a:schemeClr val="tx1"/>
                </a:solidFill>
              </a:rPr>
              <a:t>students with spending &gt; 0</a:t>
            </a:r>
            <a:endParaRPr lang="en-US" sz="1200" dirty="0"/>
          </a:p>
        </p:txBody>
      </p:sp>
      <p:sp>
        <p:nvSpPr>
          <p:cNvPr id="14" name="SourceNote"/>
          <p:cNvSpPr txBox="1"/>
          <p:nvPr/>
        </p:nvSpPr>
        <p:spPr>
          <a:xfrm>
            <a:off x="548640" y="4663440"/>
            <a:ext cx="8046720" cy="274320"/>
          </a:xfrm>
          <a:prstGeom prst="rect">
            <a:avLst/>
          </a:prstGeom>
          <a:noFill/>
          <a:ln/>
        </p:spPr>
        <p:txBody>
          <a:bodyPr wrap="square" lIns="0" tIns="0" rIns="0" bIns="0" rtlCol="0" anchor="ctr"/>
          <a:lstStyle/>
          <a:p>
            <a:pPr marL="0" indent="0">
              <a:buNone/>
            </a:pPr>
            <a:r>
              <a:rPr lang="en-US" sz="1200" dirty="0">
                <a:solidFill>
                  <a:schemeClr val="bg2"/>
                </a:solidFill>
              </a:rPr>
              <a:t>PSLM 2019–20 · every statistic weighted by household weight (hhweight)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1005840"/>
          </a:xfrm>
          <a:prstGeom prst="rect">
            <a:avLst/>
          </a:prstGeom>
          <a:noFill/>
          <a:ln/>
        </p:spPr>
        <p:txBody>
          <a:bodyPr wrap="square" lIns="0" tIns="0" rIns="0" bIns="0" rtlCol="0" anchor="ctr"/>
          <a:lstStyle/>
          <a:p>
            <a:pPr marL="0" indent="0" algn="l">
              <a:buNone/>
            </a:pPr>
            <a:r>
              <a:rPr lang="en-US" sz="3000" b="1" dirty="0">
                <a:solidFill>
                  <a:schemeClr val="tx2"/>
                </a:solidFill>
              </a:rPr>
              <a:t>The typical student costs Rs 7,000 a year; the top tenth Rs 25,000+</a:t>
            </a:r>
            <a:endParaRPr lang="en-US" sz="3000" dirty="0"/>
          </a:p>
        </p:txBody>
      </p:sp>
      <p:sp>
        <p:nvSpPr>
          <p:cNvPr id="4" name="StatCard Rs 7,000"/>
          <p:cNvSpPr/>
          <p:nvPr/>
        </p:nvSpPr>
        <p:spPr>
          <a:xfrm>
            <a:off x="5852160" y="1371600"/>
            <a:ext cx="2834640" cy="731520"/>
          </a:xfrm>
          <a:prstGeom prst="roundRect">
            <a:avLst>
              <a:gd name="adj" fmla="val 12500"/>
            </a:avLst>
          </a:prstGeom>
          <a:solidFill>
            <a:schemeClr val="bg2"/>
          </a:solidFill>
          <a:ln w="12700">
            <a:solidFill>
              <a:schemeClr val="bg2"/>
            </a:solidFill>
            <a:prstDash val="solid"/>
          </a:ln>
        </p:spPr>
      </p:sp>
      <p:sp>
        <p:nvSpPr>
          <p:cNvPr id="5" name="StatNumber Rs 7,000"/>
          <p:cNvSpPr txBox="1"/>
          <p:nvPr/>
        </p:nvSpPr>
        <p:spPr>
          <a:xfrm>
            <a:off x="5943600" y="1371600"/>
            <a:ext cx="1417320" cy="731520"/>
          </a:xfrm>
          <a:prstGeom prst="rect">
            <a:avLst/>
          </a:prstGeom>
          <a:noFill/>
          <a:ln/>
        </p:spPr>
        <p:txBody>
          <a:bodyPr wrap="square" lIns="0" tIns="0" rIns="0" bIns="0" rtlCol="0" anchor="ctr"/>
          <a:lstStyle/>
          <a:p>
            <a:pPr marL="0" indent="0">
              <a:buNone/>
            </a:pPr>
            <a:r>
              <a:rPr lang="en-US" sz="2200" b="1" dirty="0">
                <a:solidFill>
                  <a:schemeClr val="tx2"/>
                </a:solidFill>
              </a:rPr>
              <a:t>Rs 7,000</a:t>
            </a:r>
            <a:endParaRPr lang="en-US" sz="2200" dirty="0"/>
          </a:p>
        </p:txBody>
      </p:sp>
      <p:sp>
        <p:nvSpPr>
          <p:cNvPr id="6" name="StatLabel Rs 7,000"/>
          <p:cNvSpPr txBox="1"/>
          <p:nvPr/>
        </p:nvSpPr>
        <p:spPr>
          <a:xfrm>
            <a:off x="7360920" y="1371600"/>
            <a:ext cx="1280160" cy="731520"/>
          </a:xfrm>
          <a:prstGeom prst="rect">
            <a:avLst/>
          </a:prstGeom>
          <a:noFill/>
          <a:ln/>
        </p:spPr>
        <p:txBody>
          <a:bodyPr wrap="square" lIns="0" tIns="0" rIns="0" bIns="0" rtlCol="0" anchor="ctr"/>
          <a:lstStyle/>
          <a:p>
            <a:pPr marL="0" indent="0">
              <a:buNone/>
            </a:pPr>
            <a:r>
              <a:rPr lang="en-US" sz="1200" dirty="0">
                <a:solidFill>
                  <a:schemeClr val="tx1"/>
                </a:solidFill>
              </a:rPr>
              <a:t>weighted and unweighted median</a:t>
            </a:r>
            <a:endParaRPr lang="en-US" sz="1200" dirty="0"/>
          </a:p>
        </p:txBody>
      </p:sp>
      <p:sp>
        <p:nvSpPr>
          <p:cNvPr id="7" name="StatCard Rs 2,500"/>
          <p:cNvSpPr/>
          <p:nvPr/>
        </p:nvSpPr>
        <p:spPr>
          <a:xfrm>
            <a:off x="5852160" y="2221992"/>
            <a:ext cx="2834640" cy="731520"/>
          </a:xfrm>
          <a:prstGeom prst="roundRect">
            <a:avLst>
              <a:gd name="adj" fmla="val 12500"/>
            </a:avLst>
          </a:prstGeom>
          <a:solidFill>
            <a:schemeClr val="bg2"/>
          </a:solidFill>
          <a:ln w="12700">
            <a:solidFill>
              <a:schemeClr val="bg2"/>
            </a:solidFill>
            <a:prstDash val="solid"/>
          </a:ln>
        </p:spPr>
      </p:sp>
      <p:sp>
        <p:nvSpPr>
          <p:cNvPr id="8" name="StatNumber Rs 2,500"/>
          <p:cNvSpPr txBox="1"/>
          <p:nvPr/>
        </p:nvSpPr>
        <p:spPr>
          <a:xfrm>
            <a:off x="5943600" y="2221992"/>
            <a:ext cx="1417320" cy="731520"/>
          </a:xfrm>
          <a:prstGeom prst="rect">
            <a:avLst/>
          </a:prstGeom>
          <a:noFill/>
          <a:ln/>
        </p:spPr>
        <p:txBody>
          <a:bodyPr wrap="square" lIns="0" tIns="0" rIns="0" bIns="0" rtlCol="0" anchor="ctr"/>
          <a:lstStyle/>
          <a:p>
            <a:pPr marL="0" indent="0">
              <a:buNone/>
            </a:pPr>
            <a:r>
              <a:rPr lang="en-US" sz="2200" b="1" dirty="0">
                <a:solidFill>
                  <a:schemeClr val="tx2"/>
                </a:solidFill>
              </a:rPr>
              <a:t>Rs 2,500</a:t>
            </a:r>
            <a:endParaRPr lang="en-US" sz="2200" dirty="0"/>
          </a:p>
        </p:txBody>
      </p:sp>
      <p:sp>
        <p:nvSpPr>
          <p:cNvPr id="9" name="StatLabel Rs 2,500"/>
          <p:cNvSpPr txBox="1"/>
          <p:nvPr/>
        </p:nvSpPr>
        <p:spPr>
          <a:xfrm>
            <a:off x="7360920" y="2221992"/>
            <a:ext cx="1280160" cy="731520"/>
          </a:xfrm>
          <a:prstGeom prst="rect">
            <a:avLst/>
          </a:prstGeom>
          <a:noFill/>
          <a:ln/>
        </p:spPr>
        <p:txBody>
          <a:bodyPr wrap="square" lIns="0" tIns="0" rIns="0" bIns="0" rtlCol="0" anchor="ctr"/>
          <a:lstStyle/>
          <a:p>
            <a:pPr marL="0" indent="0">
              <a:buNone/>
            </a:pPr>
            <a:r>
              <a:rPr lang="en-US" sz="1200" dirty="0">
                <a:solidFill>
                  <a:schemeClr val="tx1"/>
                </a:solidFill>
              </a:rPr>
              <a:t>10th percentile (weighted)</a:t>
            </a:r>
            <a:endParaRPr lang="en-US" sz="1200" dirty="0"/>
          </a:p>
        </p:txBody>
      </p:sp>
      <p:sp>
        <p:nvSpPr>
          <p:cNvPr id="10" name="StatCard Rs 25,000"/>
          <p:cNvSpPr/>
          <p:nvPr/>
        </p:nvSpPr>
        <p:spPr>
          <a:xfrm>
            <a:off x="5852160" y="3072384"/>
            <a:ext cx="2834640" cy="731520"/>
          </a:xfrm>
          <a:prstGeom prst="roundRect">
            <a:avLst>
              <a:gd name="adj" fmla="val 12500"/>
            </a:avLst>
          </a:prstGeom>
          <a:solidFill>
            <a:schemeClr val="bg2"/>
          </a:solidFill>
          <a:ln w="12700">
            <a:solidFill>
              <a:schemeClr val="bg2"/>
            </a:solidFill>
            <a:prstDash val="solid"/>
          </a:ln>
        </p:spPr>
      </p:sp>
      <p:sp>
        <p:nvSpPr>
          <p:cNvPr id="11" name="StatNumber Rs 25,000"/>
          <p:cNvSpPr txBox="1"/>
          <p:nvPr/>
        </p:nvSpPr>
        <p:spPr>
          <a:xfrm>
            <a:off x="5943600" y="3072384"/>
            <a:ext cx="1417320" cy="731520"/>
          </a:xfrm>
          <a:prstGeom prst="rect">
            <a:avLst/>
          </a:prstGeom>
          <a:noFill/>
          <a:ln/>
        </p:spPr>
        <p:txBody>
          <a:bodyPr wrap="square" lIns="0" tIns="0" rIns="0" bIns="0" rtlCol="0" anchor="ctr"/>
          <a:lstStyle/>
          <a:p>
            <a:pPr marL="0" indent="0">
              <a:buNone/>
            </a:pPr>
            <a:r>
              <a:rPr lang="en-US" sz="2200" b="1" dirty="0">
                <a:solidFill>
                  <a:schemeClr val="tx2"/>
                </a:solidFill>
              </a:rPr>
              <a:t>Rs 25,000</a:t>
            </a:r>
            <a:endParaRPr lang="en-US" sz="2200" dirty="0"/>
          </a:p>
        </p:txBody>
      </p:sp>
      <p:sp>
        <p:nvSpPr>
          <p:cNvPr id="12" name="StatLabel Rs 25,000"/>
          <p:cNvSpPr txBox="1"/>
          <p:nvPr/>
        </p:nvSpPr>
        <p:spPr>
          <a:xfrm>
            <a:off x="7360920" y="3072384"/>
            <a:ext cx="1280160" cy="731520"/>
          </a:xfrm>
          <a:prstGeom prst="rect">
            <a:avLst/>
          </a:prstGeom>
          <a:noFill/>
          <a:ln/>
        </p:spPr>
        <p:txBody>
          <a:bodyPr wrap="square" lIns="0" tIns="0" rIns="0" bIns="0" rtlCol="0" anchor="ctr"/>
          <a:lstStyle/>
          <a:p>
            <a:pPr marL="0" indent="0">
              <a:buNone/>
            </a:pPr>
            <a:r>
              <a:rPr lang="en-US" sz="1200" dirty="0">
                <a:solidFill>
                  <a:schemeClr val="tx1"/>
                </a:solidFill>
              </a:rPr>
              <a:t>90th percentile (weighted)</a:t>
            </a:r>
            <a:endParaRPr lang="en-US" sz="1200" dirty="0"/>
          </a:p>
        </p:txBody>
      </p:sp>
      <p:sp>
        <p:nvSpPr>
          <p:cNvPr id="13" name="StatCard 10.00"/>
          <p:cNvSpPr/>
          <p:nvPr/>
        </p:nvSpPr>
        <p:spPr>
          <a:xfrm>
            <a:off x="5852160" y="3922776"/>
            <a:ext cx="2834640" cy="731520"/>
          </a:xfrm>
          <a:prstGeom prst="roundRect">
            <a:avLst>
              <a:gd name="adj" fmla="val 12500"/>
            </a:avLst>
          </a:prstGeom>
          <a:solidFill>
            <a:schemeClr val="bg2"/>
          </a:solidFill>
          <a:ln w="12700">
            <a:solidFill>
              <a:schemeClr val="bg2"/>
            </a:solidFill>
            <a:prstDash val="solid"/>
          </a:ln>
        </p:spPr>
      </p:sp>
      <p:sp>
        <p:nvSpPr>
          <p:cNvPr id="14" name="StatNumber 10.00"/>
          <p:cNvSpPr txBox="1"/>
          <p:nvPr/>
        </p:nvSpPr>
        <p:spPr>
          <a:xfrm>
            <a:off x="5943600" y="3922776"/>
            <a:ext cx="1417320" cy="731520"/>
          </a:xfrm>
          <a:prstGeom prst="rect">
            <a:avLst/>
          </a:prstGeom>
          <a:noFill/>
          <a:ln/>
        </p:spPr>
        <p:txBody>
          <a:bodyPr wrap="square" lIns="0" tIns="0" rIns="0" bIns="0" rtlCol="0" anchor="ctr"/>
          <a:lstStyle/>
          <a:p>
            <a:pPr marL="0" indent="0">
              <a:buNone/>
            </a:pPr>
            <a:r>
              <a:rPr lang="en-US" sz="2200" b="1" dirty="0">
                <a:solidFill>
                  <a:schemeClr val="tx2"/>
                </a:solidFill>
              </a:rPr>
              <a:t>10.00</a:t>
            </a:r>
            <a:endParaRPr lang="en-US" sz="2200" dirty="0"/>
          </a:p>
        </p:txBody>
      </p:sp>
      <p:sp>
        <p:nvSpPr>
          <p:cNvPr id="15" name="StatLabel 10.00"/>
          <p:cNvSpPr txBox="1"/>
          <p:nvPr/>
        </p:nvSpPr>
        <p:spPr>
          <a:xfrm>
            <a:off x="7360920" y="3922776"/>
            <a:ext cx="1280160" cy="731520"/>
          </a:xfrm>
          <a:prstGeom prst="rect">
            <a:avLst/>
          </a:prstGeom>
          <a:noFill/>
          <a:ln/>
        </p:spPr>
        <p:txBody>
          <a:bodyPr wrap="square" lIns="0" tIns="0" rIns="0" bIns="0" rtlCol="0" anchor="ctr"/>
          <a:lstStyle/>
          <a:p>
            <a:pPr marL="0" indent="0">
              <a:buNone/>
            </a:pPr>
            <a:r>
              <a:rPr lang="en-US" sz="1200" dirty="0">
                <a:solidFill>
                  <a:schemeClr val="tx1"/>
                </a:solidFill>
              </a:rPr>
              <a:t>ratio p90 / p10</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2</a:t>
            </a:fld>
            <a:endParaRPr lang="en-US"/>
          </a:p>
        </p:txBody>
      </p:sp>
      <p:pic>
        <p:nvPicPr>
          <p:cNvPr id="16" name="Picture 15"/>
          <p:cNvPicPr>
            <a:picLocks noChangeAspect="1"/>
          </p:cNvPicPr>
          <p:nvPr/>
        </p:nvPicPr>
        <p:blipFill rotWithShape="1">
          <a:blip r:embed="rId3">
            <a:extLst>
              <a:ext uri="{28A0092B-C50C-407E-A947-70E740481C1C}">
                <a14:useLocalDpi xmlns:a14="http://schemas.microsoft.com/office/drawing/2010/main" val="0"/>
              </a:ext>
            </a:extLst>
          </a:blip>
          <a:srcRect t="12845" r="39548" b="21424"/>
          <a:stretch/>
        </p:blipFill>
        <p:spPr>
          <a:xfrm>
            <a:off x="457200" y="1451575"/>
            <a:ext cx="5120640" cy="31318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1005840"/>
          </a:xfrm>
          <a:prstGeom prst="rect">
            <a:avLst/>
          </a:prstGeom>
          <a:noFill/>
          <a:ln/>
        </p:spPr>
        <p:txBody>
          <a:bodyPr wrap="square" lIns="0" tIns="0" rIns="0" bIns="0" rtlCol="0" anchor="ctr"/>
          <a:lstStyle/>
          <a:p>
            <a:pPr marL="0" indent="0" algn="l">
              <a:buNone/>
            </a:pPr>
            <a:r>
              <a:rPr lang="en-US" sz="3000" b="1" dirty="0">
                <a:solidFill>
                  <a:schemeClr val="tx2"/>
                </a:solidFill>
              </a:rPr>
              <a:t>Makeover: from overlapping dots to weighted rates by age band</a:t>
            </a:r>
            <a:endParaRPr lang="en-US" sz="3000" dirty="0"/>
          </a:p>
        </p:txBody>
      </p:sp>
      <p:sp>
        <p:nvSpPr>
          <p:cNvPr id="5" name="Caption default"/>
          <p:cNvSpPr txBox="1"/>
          <p:nvPr/>
        </p:nvSpPr>
        <p:spPr>
          <a:xfrm>
            <a:off x="457200" y="3703320"/>
            <a:ext cx="3977640" cy="274320"/>
          </a:xfrm>
          <a:prstGeom prst="rect">
            <a:avLst/>
          </a:prstGeom>
          <a:noFill/>
          <a:ln/>
        </p:spPr>
        <p:txBody>
          <a:bodyPr wrap="square" lIns="0" tIns="0" rIns="0" bIns="0" rtlCol="0" anchor="ctr"/>
          <a:lstStyle/>
          <a:p>
            <a:pPr marL="0" indent="0">
              <a:buNone/>
            </a:pPr>
            <a:r>
              <a:rPr lang="en-US" sz="1200" b="1" dirty="0">
                <a:solidFill>
                  <a:schemeClr val="tx2"/>
                </a:solidFill>
              </a:rPr>
              <a:t>R default: ggplot + geom_point()</a:t>
            </a:r>
            <a:endParaRPr lang="en-US" sz="1200" dirty="0"/>
          </a:p>
        </p:txBody>
      </p:sp>
      <p:sp>
        <p:nvSpPr>
          <p:cNvPr id="6" name="Caption redesign"/>
          <p:cNvSpPr txBox="1"/>
          <p:nvPr/>
        </p:nvSpPr>
        <p:spPr>
          <a:xfrm>
            <a:off x="4709160" y="3703320"/>
            <a:ext cx="3977640" cy="274320"/>
          </a:xfrm>
          <a:prstGeom prst="rect">
            <a:avLst/>
          </a:prstGeom>
          <a:noFill/>
          <a:ln/>
        </p:spPr>
        <p:txBody>
          <a:bodyPr wrap="square" lIns="0" tIns="0" rIns="0" bIns="0" rtlCol="0" anchor="ctr"/>
          <a:lstStyle/>
          <a:p>
            <a:pPr marL="0" indent="0">
              <a:buNone/>
            </a:pPr>
            <a:r>
              <a:rPr lang="en-US" sz="1200" b="1" dirty="0">
                <a:solidFill>
                  <a:schemeClr val="tx2"/>
                </a:solidFill>
              </a:rPr>
              <a:t>Redesign: weighted literacy rate by age band</a:t>
            </a:r>
            <a:endParaRPr lang="en-US" sz="1200" dirty="0"/>
          </a:p>
        </p:txBody>
      </p:sp>
      <p:sp>
        <p:nvSpPr>
          <p:cNvPr id="7" name="ChangeCard 0.5"/>
          <p:cNvSpPr/>
          <p:nvPr/>
        </p:nvSpPr>
        <p:spPr>
          <a:xfrm>
            <a:off x="457200" y="4069080"/>
            <a:ext cx="2560320" cy="640080"/>
          </a:xfrm>
          <a:prstGeom prst="roundRect">
            <a:avLst>
              <a:gd name="adj" fmla="val 14286"/>
            </a:avLst>
          </a:prstGeom>
          <a:solidFill>
            <a:schemeClr val="bg2"/>
          </a:solidFill>
          <a:ln w="12700">
            <a:solidFill>
              <a:schemeClr val="bg2"/>
            </a:solidFill>
            <a:prstDash val="solid"/>
          </a:ln>
        </p:spPr>
      </p:sp>
      <p:sp>
        <p:nvSpPr>
          <p:cNvPr id="8" name="ChangeText 0.5"/>
          <p:cNvSpPr txBox="1"/>
          <p:nvPr/>
        </p:nvSpPr>
        <p:spPr>
          <a:xfrm>
            <a:off x="548640" y="4069080"/>
            <a:ext cx="2377440" cy="640080"/>
          </a:xfrm>
          <a:prstGeom prst="rect">
            <a:avLst/>
          </a:prstGeom>
          <a:noFill/>
          <a:ln/>
        </p:spPr>
        <p:txBody>
          <a:bodyPr wrap="square" lIns="0" tIns="0" rIns="0" bIns="0" rtlCol="0" anchor="ctr"/>
          <a:lstStyle/>
          <a:p>
            <a:pPr marL="0" indent="0">
              <a:buNone/>
            </a:pPr>
            <a:r>
              <a:rPr lang="en-US" sz="1200" dirty="0">
                <a:solidFill>
                  <a:schemeClr val="tx1"/>
                </a:solidFill>
              </a:rPr>
              <a:t>Overplotting → weighted conditional means</a:t>
            </a:r>
            <a:endParaRPr lang="en-US" sz="1200" dirty="0"/>
          </a:p>
        </p:txBody>
      </p:sp>
      <p:sp>
        <p:nvSpPr>
          <p:cNvPr id="9" name="ChangeCard 3.6"/>
          <p:cNvSpPr/>
          <p:nvPr/>
        </p:nvSpPr>
        <p:spPr>
          <a:xfrm>
            <a:off x="3291840" y="4069080"/>
            <a:ext cx="2560320" cy="640080"/>
          </a:xfrm>
          <a:prstGeom prst="roundRect">
            <a:avLst>
              <a:gd name="adj" fmla="val 14286"/>
            </a:avLst>
          </a:prstGeom>
          <a:solidFill>
            <a:schemeClr val="bg2"/>
          </a:solidFill>
          <a:ln w="12700">
            <a:solidFill>
              <a:schemeClr val="bg2"/>
            </a:solidFill>
            <a:prstDash val="solid"/>
          </a:ln>
        </p:spPr>
      </p:sp>
      <p:sp>
        <p:nvSpPr>
          <p:cNvPr id="10" name="ChangeText 3.6"/>
          <p:cNvSpPr txBox="1"/>
          <p:nvPr/>
        </p:nvSpPr>
        <p:spPr>
          <a:xfrm>
            <a:off x="3383280" y="4069080"/>
            <a:ext cx="2377440" cy="640080"/>
          </a:xfrm>
          <a:prstGeom prst="rect">
            <a:avLst/>
          </a:prstGeom>
          <a:noFill/>
          <a:ln/>
        </p:spPr>
        <p:txBody>
          <a:bodyPr wrap="square" lIns="0" tIns="0" rIns="0" bIns="0" rtlCol="0" anchor="ctr"/>
          <a:lstStyle/>
          <a:p>
            <a:pPr marL="0" indent="0">
              <a:buNone/>
            </a:pPr>
            <a:r>
              <a:rPr lang="en-US" sz="1200" dirty="0">
                <a:solidFill>
                  <a:schemeClr val="tx1"/>
                </a:solidFill>
              </a:rPr>
              <a:t>Position on a common scale (perceptual ranking of channels)</a:t>
            </a:r>
            <a:endParaRPr lang="en-US" sz="1200" dirty="0"/>
          </a:p>
        </p:txBody>
      </p:sp>
      <p:sp>
        <p:nvSpPr>
          <p:cNvPr id="11" name="ChangeCard 6.7"/>
          <p:cNvSpPr/>
          <p:nvPr/>
        </p:nvSpPr>
        <p:spPr>
          <a:xfrm>
            <a:off x="6126480" y="4069080"/>
            <a:ext cx="2560320" cy="640080"/>
          </a:xfrm>
          <a:prstGeom prst="roundRect">
            <a:avLst>
              <a:gd name="adj" fmla="val 14286"/>
            </a:avLst>
          </a:prstGeom>
          <a:solidFill>
            <a:schemeClr val="bg2"/>
          </a:solidFill>
          <a:ln w="12700">
            <a:solidFill>
              <a:schemeClr val="bg2"/>
            </a:solidFill>
            <a:prstDash val="solid"/>
          </a:ln>
        </p:spPr>
      </p:sp>
      <p:sp>
        <p:nvSpPr>
          <p:cNvPr id="12" name="ChangeText 6.7"/>
          <p:cNvSpPr txBox="1"/>
          <p:nvPr/>
        </p:nvSpPr>
        <p:spPr>
          <a:xfrm>
            <a:off x="6217920" y="4069080"/>
            <a:ext cx="2377440" cy="640080"/>
          </a:xfrm>
          <a:prstGeom prst="rect">
            <a:avLst/>
          </a:prstGeom>
          <a:noFill/>
          <a:ln/>
        </p:spPr>
        <p:txBody>
          <a:bodyPr wrap="square" lIns="0" tIns="0" rIns="0" bIns="0" rtlCol="0" anchor="ctr"/>
          <a:lstStyle/>
          <a:p>
            <a:pPr marL="0" indent="0">
              <a:buNone/>
            </a:pPr>
            <a:r>
              <a:rPr lang="en-US" sz="1200" dirty="0">
                <a:solidFill>
                  <a:schemeClr val="tx1"/>
                </a:solidFill>
              </a:rPr>
              <a:t>Direct labels, less ink (data-ink)</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l"/>
            <a:fld id="{F7021451-1387-4CA6-816F-3879F97B5CBC}" type="slidenum">
              <a:rPr lang="en-US" b="0"/>
              <a:t>3</a:t>
            </a:fld>
            <a:endParaRPr lang="en-US"/>
          </a:p>
        </p:txBody>
      </p:sp>
      <p:pic>
        <p:nvPicPr>
          <p:cNvPr id="14" name="Picture 13"/>
          <p:cNvPicPr>
            <a:picLocks noChangeAspect="1"/>
          </p:cNvPicPr>
          <p:nvPr/>
        </p:nvPicPr>
        <p:blipFill rotWithShape="1">
          <a:blip r:embed="rId3">
            <a:extLst>
              <a:ext uri="{28A0092B-C50C-407E-A947-70E740481C1C}">
                <a14:useLocalDpi xmlns:a14="http://schemas.microsoft.com/office/drawing/2010/main" val="0"/>
              </a:ext>
            </a:extLst>
          </a:blip>
          <a:srcRect l="379" t="12929" r="57803" b="12861"/>
          <a:stretch/>
        </p:blipFill>
        <p:spPr>
          <a:xfrm>
            <a:off x="1300969" y="1371600"/>
            <a:ext cx="2290100" cy="2286000"/>
          </a:xfrm>
          <a:prstGeom prst="rect">
            <a:avLst/>
          </a:prstGeom>
        </p:spPr>
      </p:pic>
      <p:pic>
        <p:nvPicPr>
          <p:cNvPr id="15" name="Picture 14"/>
          <p:cNvPicPr>
            <a:picLocks noChangeAspect="1"/>
          </p:cNvPicPr>
          <p:nvPr/>
        </p:nvPicPr>
        <p:blipFill rotWithShape="1">
          <a:blip r:embed="rId4">
            <a:extLst>
              <a:ext uri="{28A0092B-C50C-407E-A947-70E740481C1C}">
                <a14:useLocalDpi xmlns:a14="http://schemas.microsoft.com/office/drawing/2010/main" val="0"/>
              </a:ext>
            </a:extLst>
          </a:blip>
          <a:srcRect l="303" t="12390" r="41288" b="21751"/>
          <a:stretch/>
        </p:blipFill>
        <p:spPr>
          <a:xfrm>
            <a:off x="4895840" y="1371600"/>
            <a:ext cx="3604278" cy="2286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1005840"/>
          </a:xfrm>
          <a:prstGeom prst="rect">
            <a:avLst/>
          </a:prstGeom>
          <a:noFill/>
          <a:ln/>
        </p:spPr>
        <p:txBody>
          <a:bodyPr wrap="square" lIns="0" tIns="0" rIns="0" bIns="0" rtlCol="0" anchor="ctr"/>
          <a:lstStyle/>
          <a:p>
            <a:pPr marL="0" indent="0" algn="l">
              <a:buNone/>
            </a:pPr>
            <a:r>
              <a:rPr lang="en-US" sz="3000" b="1" dirty="0">
                <a:solidFill>
                  <a:schemeClr val="bg1"/>
                </a:solidFill>
              </a:rPr>
              <a:t>At ages 55–59, 2.9% of rural KP women are literate versus 43.0% of men</a:t>
            </a:r>
            <a:endParaRPr lang="en-US" sz="3000" dirty="0"/>
          </a:p>
        </p:txBody>
      </p:sp>
      <p:sp>
        <p:nvSpPr>
          <p:cNvPr id="3" name="Card 2.9%"/>
          <p:cNvSpPr/>
          <p:nvPr/>
        </p:nvSpPr>
        <p:spPr>
          <a:xfrm>
            <a:off x="457200" y="1508760"/>
            <a:ext cx="2651760" cy="1554480"/>
          </a:xfrm>
          <a:prstGeom prst="roundRect">
            <a:avLst>
              <a:gd name="adj" fmla="val 5882"/>
            </a:avLst>
          </a:prstGeom>
          <a:solidFill>
            <a:schemeClr val="bg1"/>
          </a:solidFill>
          <a:ln w="12700">
            <a:solidFill>
              <a:schemeClr val="bg1"/>
            </a:solidFill>
            <a:prstDash val="solid"/>
          </a:ln>
        </p:spPr>
      </p:sp>
      <p:sp>
        <p:nvSpPr>
          <p:cNvPr id="4" name="Number 2.9%"/>
          <p:cNvSpPr txBox="1"/>
          <p:nvPr/>
        </p:nvSpPr>
        <p:spPr>
          <a:xfrm>
            <a:off x="594360" y="1600200"/>
            <a:ext cx="2377440" cy="731520"/>
          </a:xfrm>
          <a:prstGeom prst="rect">
            <a:avLst/>
          </a:prstGeom>
          <a:noFill/>
          <a:ln/>
        </p:spPr>
        <p:txBody>
          <a:bodyPr wrap="square" lIns="0" tIns="0" rIns="0" bIns="0" rtlCol="0" anchor="ctr"/>
          <a:lstStyle/>
          <a:p>
            <a:pPr marL="0" indent="0">
              <a:buNone/>
            </a:pPr>
            <a:r>
              <a:rPr lang="en-US" sz="4000" b="1" dirty="0">
                <a:solidFill>
                  <a:schemeClr val="accent2"/>
                </a:solidFill>
              </a:rPr>
              <a:t>2.9%</a:t>
            </a:r>
            <a:endParaRPr lang="en-US" sz="4000" dirty="0"/>
          </a:p>
        </p:txBody>
      </p:sp>
      <p:sp>
        <p:nvSpPr>
          <p:cNvPr id="5" name="Label 2.9%"/>
          <p:cNvSpPr txBox="1"/>
          <p:nvPr/>
        </p:nvSpPr>
        <p:spPr>
          <a:xfrm>
            <a:off x="594360" y="2377440"/>
            <a:ext cx="2377440" cy="548640"/>
          </a:xfrm>
          <a:prstGeom prst="rect">
            <a:avLst/>
          </a:prstGeom>
          <a:noFill/>
          <a:ln/>
        </p:spPr>
        <p:txBody>
          <a:bodyPr wrap="square" lIns="0" tIns="0" rIns="0" bIns="0" rtlCol="0" anchor="ctr"/>
          <a:lstStyle/>
          <a:p>
            <a:pPr marL="0" indent="0">
              <a:buNone/>
            </a:pPr>
            <a:r>
              <a:rPr lang="en-US" sz="1400" dirty="0">
                <a:solidFill>
                  <a:schemeClr val="tx1"/>
                </a:solidFill>
              </a:rPr>
              <a:t>of women aged 55–59</a:t>
            </a:r>
            <a:endParaRPr lang="en-US" sz="1400" dirty="0"/>
          </a:p>
        </p:txBody>
      </p:sp>
      <p:sp>
        <p:nvSpPr>
          <p:cNvPr id="6" name="Card 43.0%"/>
          <p:cNvSpPr/>
          <p:nvPr/>
        </p:nvSpPr>
        <p:spPr>
          <a:xfrm>
            <a:off x="3291840" y="1508760"/>
            <a:ext cx="2651760" cy="1554480"/>
          </a:xfrm>
          <a:prstGeom prst="roundRect">
            <a:avLst>
              <a:gd name="adj" fmla="val 5882"/>
            </a:avLst>
          </a:prstGeom>
          <a:solidFill>
            <a:schemeClr val="bg1"/>
          </a:solidFill>
          <a:ln w="12700">
            <a:solidFill>
              <a:schemeClr val="bg1"/>
            </a:solidFill>
            <a:prstDash val="solid"/>
          </a:ln>
        </p:spPr>
      </p:sp>
      <p:sp>
        <p:nvSpPr>
          <p:cNvPr id="7" name="Number 43.0%"/>
          <p:cNvSpPr txBox="1"/>
          <p:nvPr/>
        </p:nvSpPr>
        <p:spPr>
          <a:xfrm>
            <a:off x="3429000" y="1600200"/>
            <a:ext cx="2377440" cy="731520"/>
          </a:xfrm>
          <a:prstGeom prst="rect">
            <a:avLst/>
          </a:prstGeom>
          <a:noFill/>
          <a:ln/>
        </p:spPr>
        <p:txBody>
          <a:bodyPr wrap="square" lIns="0" tIns="0" rIns="0" bIns="0" rtlCol="0" anchor="ctr"/>
          <a:lstStyle/>
          <a:p>
            <a:pPr marL="0" indent="0">
              <a:buNone/>
            </a:pPr>
            <a:r>
              <a:rPr lang="en-US" sz="4000" b="1" dirty="0">
                <a:solidFill>
                  <a:schemeClr val="tx2"/>
                </a:solidFill>
              </a:rPr>
              <a:t>43.0%</a:t>
            </a:r>
            <a:endParaRPr lang="en-US" sz="4000" dirty="0"/>
          </a:p>
        </p:txBody>
      </p:sp>
      <p:sp>
        <p:nvSpPr>
          <p:cNvPr id="8" name="Label 43.0%"/>
          <p:cNvSpPr txBox="1"/>
          <p:nvPr/>
        </p:nvSpPr>
        <p:spPr>
          <a:xfrm>
            <a:off x="3429000" y="2377440"/>
            <a:ext cx="2377440" cy="548640"/>
          </a:xfrm>
          <a:prstGeom prst="rect">
            <a:avLst/>
          </a:prstGeom>
          <a:noFill/>
          <a:ln/>
        </p:spPr>
        <p:txBody>
          <a:bodyPr wrap="square" lIns="0" tIns="0" rIns="0" bIns="0" rtlCol="0" anchor="ctr"/>
          <a:lstStyle/>
          <a:p>
            <a:pPr marL="0" indent="0">
              <a:buNone/>
            </a:pPr>
            <a:r>
              <a:rPr lang="en-US" sz="1400" dirty="0">
                <a:solidFill>
                  <a:schemeClr val="tx1"/>
                </a:solidFill>
              </a:rPr>
              <a:t>of men aged 55–59</a:t>
            </a:r>
            <a:endParaRPr lang="en-US" sz="1400" dirty="0"/>
          </a:p>
        </p:txBody>
      </p:sp>
      <p:sp>
        <p:nvSpPr>
          <p:cNvPr id="9" name="Card 46.6"/>
          <p:cNvSpPr/>
          <p:nvPr/>
        </p:nvSpPr>
        <p:spPr>
          <a:xfrm>
            <a:off x="6126480" y="1508760"/>
            <a:ext cx="2560320" cy="1554480"/>
          </a:xfrm>
          <a:prstGeom prst="roundRect">
            <a:avLst>
              <a:gd name="adj" fmla="val 5882"/>
            </a:avLst>
          </a:prstGeom>
          <a:solidFill>
            <a:schemeClr val="bg1"/>
          </a:solidFill>
          <a:ln w="12700">
            <a:solidFill>
              <a:schemeClr val="bg1"/>
            </a:solidFill>
            <a:prstDash val="solid"/>
          </a:ln>
        </p:spPr>
      </p:sp>
      <p:sp>
        <p:nvSpPr>
          <p:cNvPr id="10" name="Number 46.6"/>
          <p:cNvSpPr txBox="1"/>
          <p:nvPr/>
        </p:nvSpPr>
        <p:spPr>
          <a:xfrm>
            <a:off x="6263640" y="1600200"/>
            <a:ext cx="2286000" cy="731520"/>
          </a:xfrm>
          <a:prstGeom prst="rect">
            <a:avLst/>
          </a:prstGeom>
          <a:noFill/>
          <a:ln/>
        </p:spPr>
        <p:txBody>
          <a:bodyPr wrap="square" lIns="0" tIns="0" rIns="0" bIns="0" rtlCol="0" anchor="ctr"/>
          <a:lstStyle/>
          <a:p>
            <a:pPr marL="0" indent="0">
              <a:buNone/>
            </a:pPr>
            <a:r>
              <a:rPr lang="en-US" sz="4000" b="1" dirty="0">
                <a:solidFill>
                  <a:schemeClr val="tx2"/>
                </a:solidFill>
              </a:rPr>
              <a:t>46.6</a:t>
            </a:r>
            <a:endParaRPr lang="en-US" sz="4000" dirty="0"/>
          </a:p>
        </p:txBody>
      </p:sp>
      <p:sp>
        <p:nvSpPr>
          <p:cNvPr id="11" name="Label 46.6"/>
          <p:cNvSpPr txBox="1"/>
          <p:nvPr/>
        </p:nvSpPr>
        <p:spPr>
          <a:xfrm>
            <a:off x="6263640" y="2377440"/>
            <a:ext cx="2286000" cy="548640"/>
          </a:xfrm>
          <a:prstGeom prst="rect">
            <a:avLst/>
          </a:prstGeom>
          <a:noFill/>
          <a:ln/>
        </p:spPr>
        <p:txBody>
          <a:bodyPr wrap="square" lIns="0" tIns="0" rIns="0" bIns="0" rtlCol="0" anchor="ctr"/>
          <a:lstStyle/>
          <a:p>
            <a:pPr marL="0" indent="0">
              <a:buNone/>
            </a:pPr>
            <a:r>
              <a:rPr lang="en-US" sz="1400" dirty="0">
                <a:solidFill>
                  <a:schemeClr val="tx1"/>
                </a:solidFill>
              </a:rPr>
              <a:t>points: largest gap,</a:t>
            </a:r>
            <a:endParaRPr lang="en-US" sz="1400" dirty="0"/>
          </a:p>
          <a:p>
            <a:pPr marL="0" indent="0">
              <a:buNone/>
            </a:pPr>
            <a:r>
              <a:rPr lang="en-US" sz="1400" dirty="0">
                <a:solidFill>
                  <a:schemeClr val="tx1"/>
                </a:solidFill>
              </a:rPr>
              <a:t>at ages 45–49</a:t>
            </a:r>
            <a:endParaRPr lang="en-US" sz="1400" dirty="0"/>
          </a:p>
        </p:txBody>
      </p:sp>
      <p:sp>
        <p:nvSpPr>
          <p:cNvPr id="12" name="Limitation"/>
          <p:cNvSpPr txBox="1"/>
          <p:nvPr/>
        </p:nvSpPr>
        <p:spPr>
          <a:xfrm>
            <a:off x="457200" y="3383280"/>
            <a:ext cx="8229600" cy="1097280"/>
          </a:xfrm>
          <a:prstGeom prst="rect">
            <a:avLst/>
          </a:prstGeom>
          <a:noFill/>
          <a:ln/>
        </p:spPr>
        <p:txBody>
          <a:bodyPr wrap="square" lIns="0" tIns="0" rIns="0" bIns="0" rtlCol="0" anchor="t"/>
          <a:lstStyle/>
          <a:p>
            <a:pPr marL="0" indent="0">
              <a:buNone/>
            </a:pPr>
            <a:r>
              <a:rPr lang="en-US" sz="1600" dirty="0">
                <a:solidFill>
                  <a:schemeClr val="bg1"/>
                </a:solidFill>
              </a:rPr>
              <a:t>What it cannot tell us: the figure compares different people at one time, so age and cohort effects can’t be separated. Older women may be less literate because of the schooling available when they were young.</a:t>
            </a:r>
            <a:endParaRPr lang="en-US" sz="1600" dirty="0"/>
          </a:p>
        </p:txBody>
      </p:sp>
    </p:spTree>
  </p:cSld>
  <p:clrMapOvr>
    <a:masterClrMapping/>
  </p:clrMapOvr>
</p:sld>
</file>

<file path=ppt/theme/theme1.xml><?xml version="1.0" encoding="utf-8"?>
<a:theme xmlns:a="http://schemas.openxmlformats.org/drawingml/2006/main" name="ECO346 Rural KP">
  <a:themeElements>
    <a:clrScheme name="ECO346 Rural KP">
      <a:dk1>
        <a:srgbClr val="1A2433"/>
      </a:dk1>
      <a:lt1>
        <a:srgbClr val="FFFFFF"/>
      </a:lt1>
      <a:dk2>
        <a:srgbClr val="1F4E79"/>
      </a:dk2>
      <a:lt2>
        <a:srgbClr val="EEF2F7"/>
      </a:lt2>
      <a:accent1>
        <a:srgbClr val="1F4E79"/>
      </a:accent1>
      <a:accent2>
        <a:srgbClr val="C0392B"/>
      </a:accent2>
      <a:accent3>
        <a:srgbClr val="5B7FA6"/>
      </a:accent3>
      <a:accent4>
        <a:srgbClr val="5B6676"/>
      </a:accent4>
      <a:accent5>
        <a:srgbClr val="2E7D6B"/>
      </a:accent5>
      <a:accent6>
        <a:srgbClr val="D9A441"/>
      </a:accent6>
      <a:hlink>
        <a:srgbClr val="1F4E79"/>
      </a:hlink>
      <a:folHlink>
        <a:srgbClr val="5B7FA6"/>
      </a:folHlink>
    </a:clrScheme>
    <a:fontScheme name="ECO346 Rural K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845</Words>
  <Application>Microsoft Office PowerPoint</Application>
  <PresentationFormat>On-screen Show (16:9)</PresentationFormat>
  <Paragraphs>61</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Cambria</vt:lpstr>
      <vt:lpstr>ECO346 Rural KP</vt:lpstr>
      <vt:lpstr>Schooling costs and literacy in rural Khyber Pakhtunkhwa</vt:lpstr>
      <vt:lpstr>The typical student costs Rs 7,000 a year; the top tenth Rs 25,000+</vt:lpstr>
      <vt:lpstr>Makeover: from overlapping dots to weighted rates by age band</vt:lpstr>
      <vt:lpstr>At ages 55–59, 2.9% of rural KP women are literate versus 43.0% of men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ECO346 Assignment 1 - Uswah Zahid (FA24-BED-076)</dc:title>
  <dc:subject>PptxGenJS Presentation</dc:subject>
  <dc:creator>Uswah Zahid</dc:creator>
  <cp:lastModifiedBy>Uswah Zahid</cp:lastModifiedBy>
  <cp:revision>2</cp:revision>
  <dcterms:created xsi:type="dcterms:W3CDTF">2026-10-25T13:45:27Z</dcterms:created>
  <dcterms:modified xsi:type="dcterms:W3CDTF">2026-10-25T13:59:01Z</dcterms:modified>
</cp:coreProperties>
</file>